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44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II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· Recursividad · Técnicas Algorítmicas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68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Estructuras de Datos 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Workshop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Computacional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673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86584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32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Vencerás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1912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&amp; Árbol de Decisión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904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868680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30352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0" y="162763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303520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1673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0" y="2386584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30352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06440" y="2432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03520" y="314553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30352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06440" y="31912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Abstracción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03520" y="3904488"/>
            <a:ext cx="438912" cy="43891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303520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06440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Computacional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Asintótica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6217920" cy="374903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 = 1,000,000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O(1)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Acceso a arreglo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Constante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O(log 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Búsqueda binaria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≈ 20 ops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Recorrido lineal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1,000,000 ops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O(n log 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MergeSort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≈ 20,000,000 ops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O(n²)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BubbleSort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10¹² ops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O(2ⁿ)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55A64"/>
                          </a:solidFill>
                        </a:rPr>
                        <a:t>Subconjuntos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INVIABLE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822960"/>
            <a:ext cx="2103120" cy="1005840"/>
          </a:xfrm>
          <a:prstGeom prst="rect">
            <a:avLst/>
          </a:prstGeom>
          <a:solidFill>
            <a:srgbClr val="EAF3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858000" y="868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50"/>
                </a:solidFill>
              </a:rPr>
              <a:t>f(n) ∈ O(g(n))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55A64"/>
                </a:solidFill>
              </a:rPr>
              <a:t>si ∃ c &gt; 0, n₀ tal 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55A64"/>
                </a:solidFill>
              </a:rPr>
              <a:t>f(n) ≤ c·g(n) ∀ n ≥ n₀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766560" y="2011680"/>
            <a:ext cx="2103120" cy="2560320"/>
          </a:xfrm>
          <a:prstGeom prst="rect">
            <a:avLst/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8122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</a:rPr>
              <a:t>Notaciones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30568" y="2468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B6F6"/>
                </a:solidFill>
              </a:rPr>
              <a:t>O(·)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24928" y="24963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Cota superior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30568" y="3108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B6F6"/>
                </a:solidFill>
              </a:rPr>
              <a:t>Ω(·)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24928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Cota inferior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30568" y="3749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B6F6"/>
                </a:solidFill>
              </a:rPr>
              <a:t>Θ(·)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24928" y="3776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Acotamiento ajustado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Experimental en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0" cy="320040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51560"/>
            <a:ext cx="48463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inicio = System.nanoTime();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miAlgoritmo(datos);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fin = System.nanoTime();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ms = (fin - inicio) / 1_000_000.0;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System.out.printf("%.3f ms%n", ms);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Memoria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rt = Runtime.getRuntime();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rt.gc();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mem = rt.totalMemory()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 rt.freeMemory();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777240"/>
            <a:ext cx="33375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Buenas Prácticas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170432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</a:rPr>
              <a:t>Warm-up de la JVM (3–5 runs previos)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</a:rPr>
              <a:t>Promediar múltiples mediciones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</a:rPr>
              <a:t>Evitar currentTimeMillis()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</a:rPr>
              <a:t>Considerar GC entre mediciones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</a:rPr>
              <a:t>Aislar código a medir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 Algoritmo Recursivo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606040" cy="50292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93192" y="777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2850"/>
                </a:solidFill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9768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Condición de parada. No invoca recursión. Sin él → Stack Overflow.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60604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27832" y="777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RECURSIVO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64408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Llamada a sí mismo con un subproblema estrictamente menor.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989320" y="777240"/>
            <a:ext cx="2606040" cy="502920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062472" y="777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838F"/>
                </a:solidFill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99048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</a:rPr>
              <a:t>Garantía de que la entrada se acerca al caso base en cada paso.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8503920" cy="749808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850392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11480" y="43159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" y="45720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factorial(int n) { if (n&lt;=1) return 1; return n * factorial(n-1); } // Costo: O(n) tiempo, O(n) pila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Riesgos de la Recursividad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proporcional al nº de llamadas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O(d) donde d = profundidad máx.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ingenuo: O(2ⁿ) llamadas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Factorial: O(n) llamadas, O(n) pila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1430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frame: parámetros + vars locales + ret addr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default: ~512 KB – 1 MB por hilo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típica segura: 500–5000 frames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convertir a iterativo o usar tail rec.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de Cola (Tail)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1089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 recursiva es la ÚLTIMA operación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reutilizar el frame de pila (TCO)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JVM NO aplica TCO automáticamente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usar trampolín (trampoline)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60520" cy="347472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comparativa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10896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Ingenuo: O(2ⁿ) tiempo, O(n) pila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memoización: O(n) tiempo, O(n) memo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acumulador (tail): O(n) tiempo, O(1) lógico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Iterativo: O(n) tiempo, O(1) espacio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Vencerás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Vencerás: Principio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33472" cy="2377440"/>
          </a:xfrm>
          <a:prstGeom prst="rect">
            <a:avLst/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</a:rPr>
              <a:t>DIVIDIR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Partir el problema de tamaño n en k subproblemas de tamaño n/b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08960" y="804672"/>
            <a:ext cx="2633472" cy="237744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108960" y="84124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②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</a:rPr>
              <a:t>CONQUISTAR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Resolver cada subproblema recursivamente (caso base: resolver directo)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6072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43600" y="804672"/>
            <a:ext cx="2633472" cy="2377440"/>
          </a:xfrm>
          <a:prstGeom prst="rect">
            <a:avLst/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943600" y="84124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③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</a:rPr>
              <a:t>COMBINAR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10312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Fusionar las soluciones parciales en la solución global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EAF3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850"/>
                </a:solidFill>
              </a:rPr>
              <a:t>Teorema Maestro  T(n) = a·T(n/b) + f(n)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8039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MergeSort: T(n) = 2T(n/2) + O(n)  →  O(n log n)     |     Búsqueda Binaria: T(n) = T(n/2) + O(1)  →  O(log 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513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QuickSort: O(n log n) esperado, O(n²) peor caso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&amp; Árbol de Decisión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Backtracking: Exploración con Retroceso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solución paso a paso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decisión viola restricciones → RETROCEDE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siguiente alternativa disponible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encontrar todas las soluciones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peor caso: O(kⁿ) sin poda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poda efectiva: mucho menor en práctica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51960" cy="379476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25196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09160" y="795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27448" y="1051560"/>
            <a:ext cx="40690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backtrack(Estado e, int nivel)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(esSolucionCompleta(e))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registrar(e); return;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(Decision d : decisiones(e))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(esValida(e, d))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aplicar(e, d);       // avanzar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backtrack(e, nivel+1);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deshacer(e, d);      // RETROCEDER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2850"/>
                </a:solidFill>
              </a:rPr>
              <a:t>El árbol de decisión es la estructura auxiliar conceptual que modela el espacio de búsqueda del backtracking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15087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023360" y="15087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∅  Raíz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0" y="22402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645920" y="22402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Q1 =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0" y="22402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Q1 =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flipH="1">
            <a:off x="2194560" y="1892808"/>
            <a:ext cx="2354580" cy="34747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49140" y="1892808"/>
            <a:ext cx="2194560" cy="34747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3017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Q2=1 ✗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0" y="30175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560320" y="3017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Q2=3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H="1">
            <a:off x="891540" y="2624328"/>
            <a:ext cx="1280160" cy="384048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171700" y="2624328"/>
            <a:ext cx="914400" cy="39319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29200" y="3017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Q2=4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98080" y="30175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498080" y="3017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Q2=2 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H="1">
            <a:off x="5554980" y="2624328"/>
            <a:ext cx="1188720" cy="384048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6" name="Shape 24"/>
          <p:cNvSpPr/>
          <p:nvPr/>
        </p:nvSpPr>
        <p:spPr>
          <a:xfrm>
            <a:off x="6743700" y="2624328"/>
            <a:ext cx="1280160" cy="39319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965960" y="37947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965960" y="37947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Solución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37947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657600" y="37947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✗ Conflicto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H="1">
            <a:off x="2497015" y="3401568"/>
            <a:ext cx="589085" cy="39319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086100" y="3401568"/>
            <a:ext cx="1097280" cy="39319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5394960" y="37947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394960" y="37947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 Solución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54980" y="3401568"/>
            <a:ext cx="365760" cy="393192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274320" y="4462272"/>
            <a:ext cx="1828800" cy="2743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2171700" y="44531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</a:rPr>
              <a:t>Nodo podado (restricción violada)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709160"/>
            <a:ext cx="182880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2194560" y="4727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Hoja solución (estado completo válido)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Ramificación y Poda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 vs Backtracking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por FACTIBILIDAD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estados que violan restricciones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cualquier solución válida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razona sobre calidad de soluciones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O(kⁿ) peor caso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14300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por OPTIMALIDAD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cota optimista en cada nodo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cota ≤ mejor solución actual → PODAR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solución óptima (minimizar/maximizar)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función de bound bien diseñada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850"/>
                </a:solidFill>
              </a:rPr>
              <a:t>Mochila 0/1: O(2ⁿ) sin poda  →  mucho mejor en práctica con buen bound (fraccionario lineal)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Voraces (Greedy)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Elección Localmente Óptima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463040" cy="548640"/>
          </a:xfrm>
          <a:prstGeom prst="rect">
            <a:avLst/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Conjunto de candidatos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8308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84248" y="822960"/>
            <a:ext cx="1463040" cy="54864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029968" y="822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Seleccionar el mejor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47288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48456" y="822960"/>
            <a:ext cx="1463040" cy="548640"/>
          </a:xfrm>
          <a:prstGeom prst="rect">
            <a:avLst/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94176" y="822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¿Es factible?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11496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12664" y="822960"/>
            <a:ext cx="1463040" cy="54864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58384" y="822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Agregar a solución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75704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825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76872" y="822960"/>
            <a:ext cx="1463040" cy="548640"/>
          </a:xfrm>
          <a:prstGeom prst="rect">
            <a:avLst/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022592" y="822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¿Solución completa?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1572768"/>
            <a:ext cx="411480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Corrección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193852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Greedy: elección local es parte de la solución óptima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óptima: solución óptima contiene sub-soluciones óptimas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estas propiedades, Greedy puede NO ser óptimo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572768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617720" y="1572768"/>
            <a:ext cx="425196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709160" y="1572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Complejidades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Dijkstra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O((V+E) log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Kruskal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O(E log 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Prim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2569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O((V+E) log V)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</a:rPr>
              <a:t>Selección actividades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O(n log 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1481328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65760" y="34198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3675888"/>
            <a:ext cx="8412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Selección de actividades (Greedy): elegir la que termina primero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Arrays.sort(actividades, (a, b) -&gt; a.fin - b.fin); // O(n log 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ultimoFin = -1;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(Actividad a : actividades)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(a.inicio &gt;= ultimoFin) { seleccionadas.add(a); ultimoFin = a.fin; } // O(n)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Heurísticas: Soluciones Suficientemente Buenas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Heurísticas?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NP-difíciles: intratables exactamente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óptimo no siempre existe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TSP: O(n!) exacto → inviable para n &gt; 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sacrifica garantía de optimalidad por velocidad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Heurísticas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1430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Constructivas: Vecino más cercano, inserción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Local: Hill Climbing, Simulated Annealing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Metaheurísticas: Algoritmos Genéticos, Tabú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típica: 5–25% sobre el óptimo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más cercano (TSP)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1546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paso: elegir ciudad no visitada más cercana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tiempo, O(n) espacio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20–25% sobre el óptimo en promedio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rápido, buena aproximación inicial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60520" cy="347472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15468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soluciones peores con probabilidad e^(-ΔE/T)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(temperatura) decrece gradualmente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 de óptimos locales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garantía formal de optimalidad global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Subproblemas Solapados + Subestructura Óptima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56032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Vencerás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INDEPENDIENTES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recomputación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MergeSort, BinSearch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56032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46120" y="777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143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Memorizamos cada resultado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Mochila, Fibonacci, LCS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83464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26480" y="777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Bruta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 todo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para Fibonacci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 en absoluto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4114800" cy="38404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2743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Enfoques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11480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1480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520440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(Memoización): recursivo + caché de resultados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(Tabulación): llenar tabla desde casos 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suele ser más eficiente en espacio y sin overhead de pila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743200"/>
          <a:ext cx="4206240" cy="203911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Problema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Espacio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Mochila 0/1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O(nW)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O(nW)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LCS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O(mn)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O(mn)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Floyd-Warshall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O(V³)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O(V²)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Edit Distance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O(mn)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55A64"/>
                          </a:solidFill>
                        </a:rPr>
                        <a:t>O(mn)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Mochila 0/1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0" cy="402336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51560"/>
            <a:ext cx="48463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mochila(int W, int[] pesos, int[] vals, int n)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int[][] dp = new int[n+1][W+1];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Caso base: dp[0][*] = dp[*][0] = 0 (ya inicializado)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1; i &lt;= n; i++)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w = 0; w &lt;= W; w++)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No tomar item 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dp[i][w] = dp[i-1][w];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Tomar item i (si cabe)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(pesos[i-1] &lt;= w)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conItem = dp[i-1][w-pesos[i-1]]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vals[i-1];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dp[i][w] = Math.max(dp[i][w], conItem);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dp[n][W]; // Respuesta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777240"/>
            <a:ext cx="3337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Recurrencia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1143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dp[i][w] = max(dp[i-1][w], dp[i-1][w-pᵢ] + vᵢ)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tomar item i: dp[i-1][w]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tomar item i: dp[i-1][w-pᵢ] + vᵢ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O(n·W)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O(n·W) → reducible a O(W)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pseudo-polinomial (W puede ser exponencial en bits)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Abstracción Algorítmica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Plantilla de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EAF3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2850"/>
                </a:solidFill>
              </a:rPr>
              <a:t>Una plantilla separa la mecánica INVARIANTE de la técnica de los PARÁMETROS VARIABLES del problema concreto.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633472" cy="3063240"/>
          </a:xfrm>
          <a:prstGeom prst="rect">
            <a:avLst/>
          </a:prstGeom>
          <a:solidFill>
            <a:srgbClr val="0E28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825"/>
                </a:solidFill>
              </a:rPr>
              <a:t>CAPA 1: Reconocimiento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67128"/>
            <a:ext cx="245059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Identificar qué técnica aplica al problema: ¿hay subestructura óptima? ¿solapamiento? ¿restricciones? ¿greedy exchange?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627632"/>
            <a:ext cx="2633472" cy="306324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0" y="16733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825"/>
                </a:solidFill>
              </a:rPr>
              <a:t>CAPA 2: Instanciación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2167128"/>
            <a:ext cx="245059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Rellenar los "huecos" de la plantilla con la lógica específica del dominio del problema.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1627632"/>
            <a:ext cx="2633472" cy="3063240"/>
          </a:xfrm>
          <a:prstGeom prst="rect">
            <a:avLst/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035040" y="16733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825"/>
                </a:solidFill>
              </a:rPr>
              <a:t>CAPA 3: Verificación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167128"/>
            <a:ext cx="245059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Comprobar que la instancia es correcta: casos base, transición, condición de poda, criterio greedy.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Plantilla: Backtracking (instanciar según problema)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0" cy="402336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51560"/>
            <a:ext cx="48463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INVARIANTE (NO cambia entre problemas) 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backtrack(Estado e, int nivel)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(esSolucionCompleta(e))  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registrar(e); return;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(Decision d : decisiones(e)) {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(esValida(e, d)) {         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aplicar(e, d);   // avanzar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backtrack(e, nivel+1);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deshacer(e, d);  // retroceder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Para N-Reinas: 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esSolucionCompleta → nivel == 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decisiones         → columnas 0..N-1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esValida           → sin conflictos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aplicar/deshacer   → col[nivel] = c / -1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777240"/>
            <a:ext cx="3337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a Instanciar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1143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esSolucionCompleta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detener la recursión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decisiones disponibles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en cada nivel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esValida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del dominio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aplicar / deshacer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estado y rollback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recursivo con retroceso es SIEMPRE el mismo.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Plantilla: DP Bottom-Up (instanciar según problema)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0" cy="402336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795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51560"/>
            <a:ext cx="48463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INVARIANTE 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programacionDinamica(Entrada entrada)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Definir dimensión de la tabla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T[] dp = inicializar(tamano(entrada)); // ← INSTANCIAR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Establecer casos base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establecerCasosBase(dp);              // ← INSTANCIAR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Llenar en orden de dependencias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: ordenDeComputo()) {     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 = transicion(dp, i);       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dp[objetivo()];               // ← INSTANCIAR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Fibonacci: dp[i] = dp[i-1] + dp[i-2] 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Mochila:   dp[i][w] = max(no-tomar, tomar) ──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LCS:       dp[i][j] = ... ──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777240"/>
            <a:ext cx="3337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32120" y="777240"/>
            <a:ext cx="333756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a Instanciar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1143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Dimensiones y tipo de dp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matriz, 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Casos 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trivialmente conocidos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Orden de cómputo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dp[sub] esté listo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Ecuación de transición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recurrencia central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Posición de la respuesta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dp[objetivo]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el orden de cómputo rompe todo.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2040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Hash: Definición y Función de Hashing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EAF3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2850"/>
                </a:solidFill>
              </a:rPr>
              <a:t>Estructura que implementa un mapa clave→valor, logrando búsqueda, inserción y eliminación en O(1) promedio mediante una función de hashing.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14800" cy="347472"/>
          </a:xfrm>
          <a:prstGeom prst="rect">
            <a:avLst/>
          </a:prstGeom>
          <a:solidFill>
            <a:srgbClr val="0E28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Hashing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U → {0, 1, ..., m-1}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Determinista: misma clave, mismo índice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Uniforme: distribuye claves homogéneamente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Eficiente: O(1) de cómputo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h(k) = k mod m  (división)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h(k) = ⌊m·(k·A mod 1)⌋  (Knuth, A≈0.618)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1605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4160520" cy="347472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 y Resolución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901952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Colisión: h(k₁) = h(k₂) con k₁ ≠ k₂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Encadenamiento: lista enlazada por bucket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Sondeo lineal: bucket+1, +2, ... (open addr.)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carga α = n/m &lt; 0.75 → óptimo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114800" cy="34747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850"/>
                </a:solidFill>
              </a:rPr>
              <a:t>Complejidades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67912"/>
          <a:ext cx="4114800" cy="10698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E2850"/>
                          </a:solidFill>
                        </a:rPr>
                        <a:t>Operación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E2850"/>
                          </a:solidFill>
                        </a:rPr>
                        <a:t>Promedio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E2850"/>
                          </a:solidFill>
                        </a:rPr>
                        <a:t>Peor caso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Inserción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Búsqueda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Eliminación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838F"/>
                          </a:solidFill>
                        </a:rPr>
                        <a:t>O(1)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663440" y="3520440"/>
            <a:ext cx="4160520" cy="1417320"/>
          </a:xfrm>
          <a:prstGeom prst="rect">
            <a:avLst/>
          </a:prstGeom>
          <a:solidFill>
            <a:srgbClr val="1E2A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663440" y="3520440"/>
            <a:ext cx="4160520" cy="2560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4754880" y="3538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</a:rPr>
              <a:t>●</a:t>
            </a:r>
            <a:r>
              <a:rPr lang="en-US" sz="800" dirty="0">
                <a:solidFill>
                  <a:srgbClr val="F9A825"/>
                </a:solidFill>
              </a:rPr>
              <a:t>  ●</a:t>
            </a:r>
            <a:r>
              <a:rPr lang="en-US" sz="800" dirty="0">
                <a:solidFill>
                  <a:srgbClr val="2E7D32"/>
                </a:solidFill>
              </a:rPr>
              <a:t>  ●</a:t>
            </a:r>
            <a:r>
              <a:rPr lang="en-US" sz="800" i="1" dirty="0">
                <a:solidFill>
                  <a:srgbClr val="90A4AE"/>
                </a:solidFill>
              </a:rPr>
              <a:t>   Java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73168" y="3794760"/>
            <a:ext cx="3977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Integer&gt; mapa = new HashMap&lt;&gt;();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mapa.put("clave", 42);  // O(1)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 = mapa.get("clave"); // O(1)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hash: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 = 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(char c : key.toCharArray())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(h * 31 + c) % m;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Complejidades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7589520" cy="3840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2850"/>
                          </a:solidFill>
                        </a:rPr>
                        <a:t>Técnica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2850"/>
                          </a:solidFill>
                        </a:rPr>
                        <a:t>Tiempo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2850"/>
                          </a:solidFill>
                        </a:rPr>
                        <a:t>Espacio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2850"/>
                          </a:solidFill>
                        </a:rPr>
                        <a:t>Óptimo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Divide y Vencerás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 log n)*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853"/>
                          </a:solidFill>
                        </a:rPr>
                        <a:t>✓ (cuando aplica)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Backtracking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O(kⁿ) peor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 pila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853"/>
                          </a:solidFill>
                        </a:rPr>
                        <a:t>✓ (exhaustivo)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Branch &amp; Bound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O(2ⁿ) peor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 pila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853"/>
                          </a:solidFill>
                        </a:rPr>
                        <a:t>✓ (con bound)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Greedy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 log n)*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853"/>
                          </a:solidFill>
                        </a:rPr>
                        <a:t>✓ (si prop. greedy)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Heurísticas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O(n²)*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5252"/>
                          </a:solidFill>
                        </a:rPr>
                        <a:t>✗ (aproximado)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Programación Dinámica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O(n·W)*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O(n·W)*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853"/>
                          </a:solidFill>
                        </a:rPr>
                        <a:t>✓ (garantizado)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Tabla Hash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O(1) prom.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O(n)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— (estructura)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</a:rPr>
              <a:t>* Depende del problema concreto. Consultar el paper para el análisis completo.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2634</Words>
  <Application>Microsoft Office PowerPoint</Application>
  <PresentationFormat>Presentación en pantalla (16:9)</PresentationFormat>
  <Paragraphs>473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Datos II – Workshop</dc:title>
  <dc:subject>PptxGenJS Presentation</dc:subject>
  <dc:creator>PptxGenJS</dc:creator>
  <cp:lastModifiedBy>Jairo Blanco</cp:lastModifiedBy>
  <cp:revision>2</cp:revision>
  <dcterms:created xsi:type="dcterms:W3CDTF">2026-04-17T17:44:10Z</dcterms:created>
  <dcterms:modified xsi:type="dcterms:W3CDTF">2026-04-17T22:22:53Z</dcterms:modified>
</cp:coreProperties>
</file>